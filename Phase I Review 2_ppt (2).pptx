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1" r:id="rId5"/>
    <p:sldId id="285" r:id="rId6"/>
    <p:sldId id="286" r:id="rId7"/>
    <p:sldId id="274" r:id="rId8"/>
    <p:sldId id="282" r:id="rId9"/>
    <p:sldId id="283" r:id="rId10"/>
    <p:sldId id="276" r:id="rId11"/>
    <p:sldId id="278" r:id="rId12"/>
    <p:sldId id="284" r:id="rId13"/>
    <p:sldId id="279" r:id="rId14"/>
    <p:sldId id="273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2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0F362-A761-429F-A518-95033F19C564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8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8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7B28E-05AE-4493-BB71-E6F58AA1D04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FEF03C-0C82-4563-8372-3341D12C4CA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7AE4-E0EB-4328-AF43-69D401D3C888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8727-16FA-41E7-8EA1-39AA40D363EC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DD81B-B90B-4FA8-91A9-DF30CB6010B0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1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2C880-E5E2-4E57-B48F-76CD5D972AA2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8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228E-4DD3-4D08-892E-FF0C1CA15D86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78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8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D015D-2719-4763-8E10-47285FB65E83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6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2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AD9A-0F0C-4633-90D4-342EE9E8360D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8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9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EA202-E659-4DDF-A807-0AC805D63DCA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7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610AA-FA7E-49F8-B00C-57292CD2DBBA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8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55A2-E625-46B3-8FE2-80F3445F0A51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7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3CDA5-D545-4675-A882-5DC73767E80D}" type="datetime1">
              <a:rPr lang="en-IN" smtClean="0"/>
              <a:pPr/>
              <a:t>08-05-2026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1.08315" TargetMode="External"/><Relationship Id="rId2" Type="http://schemas.openxmlformats.org/officeDocument/2006/relationships/hyperlink" Target="https://arxiv.org/abs/2504.0287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object 2"/>
          <p:cNvSpPr txBox="1"/>
          <p:nvPr/>
        </p:nvSpPr>
        <p:spPr>
          <a:xfrm>
            <a:off x="1524000" y="3226526"/>
            <a:ext cx="8929718" cy="44864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800" b="1" dirty="0">
                <a:solidFill>
                  <a:schemeClr val="dk1"/>
                </a:solidFill>
              </a:rPr>
              <a:t>         “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HireGenAI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AI Powered Hiring Intelligence Platform</a:t>
            </a:r>
            <a:r>
              <a:rPr lang="en-US" sz="2800" b="1" dirty="0">
                <a:solidFill>
                  <a:schemeClr val="dk1"/>
                </a:solidFill>
              </a:rPr>
              <a:t>”</a:t>
            </a:r>
            <a:endParaRPr sz="2800" b="1" dirty="0">
              <a:solidFill>
                <a:srgbClr val="002060"/>
              </a:solidFill>
              <a:latin typeface="Bookman Old Style" pitchFamily="18" charset="0"/>
              <a:cs typeface="Times New Roman"/>
            </a:endParaRPr>
          </a:p>
        </p:txBody>
      </p:sp>
      <p:sp>
        <p:nvSpPr>
          <p:cNvPr id="1048661" name="object 7"/>
          <p:cNvSpPr txBox="1"/>
          <p:nvPr/>
        </p:nvSpPr>
        <p:spPr>
          <a:xfrm>
            <a:off x="1737359" y="1998617"/>
            <a:ext cx="883049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0">
              <a:lnSpc>
                <a:spcPts val="1415"/>
              </a:lnSpc>
            </a:pPr>
            <a:endParaRPr sz="12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lnSpc>
                <a:spcPts val="2250"/>
              </a:lnSpc>
            </a:pPr>
            <a:r>
              <a:rPr lang="en-IN" sz="2800" b="1" dirty="0"/>
              <a:t>DEPARTMENT OF COMPUTER</a:t>
            </a:r>
            <a:r>
              <a:rPr lang="en-US" sz="2800" b="1" dirty="0"/>
              <a:t> </a:t>
            </a:r>
            <a:r>
              <a:rPr lang="en-IN" sz="2800" b="1" dirty="0"/>
              <a:t>SC</a:t>
            </a:r>
            <a:r>
              <a:rPr lang="en-US" sz="2800" b="1" dirty="0"/>
              <a:t>IE</a:t>
            </a:r>
            <a:r>
              <a:rPr lang="en-IN" sz="2800" b="1" dirty="0"/>
              <a:t>NCE AND ENGINEERING</a:t>
            </a:r>
          </a:p>
          <a:p>
            <a:r>
              <a:rPr lang="en-IN" sz="1400" b="1" dirty="0"/>
              <a:t>                              Accredited by NBA, New Delhi, (Validity: 01.07.2023– 30.06.2026)</a:t>
            </a:r>
            <a:endParaRPr lang="en-US" sz="1400" dirty="0"/>
          </a:p>
        </p:txBody>
      </p:sp>
      <p:sp>
        <p:nvSpPr>
          <p:cNvPr id="1048662" name="object 8"/>
          <p:cNvSpPr txBox="1"/>
          <p:nvPr/>
        </p:nvSpPr>
        <p:spPr>
          <a:xfrm>
            <a:off x="7096133" y="4071942"/>
            <a:ext cx="3143271" cy="171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Under the </a:t>
            </a:r>
            <a:r>
              <a:rPr b="1" spc="-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Guidance</a:t>
            </a:r>
            <a:r>
              <a:rPr lang="en-US" b="1" spc="-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</a:t>
            </a:r>
            <a:br>
              <a:rPr lang="en-US" spc="-5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Dr. Rajath A N</a:t>
            </a:r>
          </a:p>
          <a:p>
            <a:pPr marL="12700" algn="ctr">
              <a:spcBef>
                <a:spcPts val="100"/>
              </a:spcBef>
            </a:pP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Associate Professor</a:t>
            </a:r>
          </a:p>
          <a:p>
            <a:pPr marL="12700" algn="ctr">
              <a:spcBef>
                <a:spcPts val="100"/>
              </a:spcBef>
            </a:pP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Dept. of  CSE </a:t>
            </a:r>
          </a:p>
          <a:p>
            <a:pPr marL="12700" algn="ctr">
              <a:spcBef>
                <a:spcPts val="100"/>
              </a:spcBef>
            </a:pPr>
            <a:endParaRPr lang="en-IN" b="1" spc="-85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3" name="object 9"/>
          <p:cNvSpPr txBox="1"/>
          <p:nvPr/>
        </p:nvSpPr>
        <p:spPr>
          <a:xfrm>
            <a:off x="1666844" y="4000505"/>
            <a:ext cx="4230370" cy="2000548"/>
          </a:xfrm>
          <a:prstGeom prst="rect">
            <a:avLst/>
          </a:prstGeom>
        </p:spPr>
        <p:txBody>
          <a:bodyPr vert="horz" wrap="square" lIns="0" tIns="12700" rIns="0" bIns="0" numCol="1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b="1" spc="-1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 Batch 6                                                         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Chandana B C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4GW23CS020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]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Manya V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4GW23CS058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Megha B M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4GW23CS060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Samiksha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4GW23CS094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12700" algn="ctr">
              <a:spcBef>
                <a:spcPts val="100"/>
              </a:spcBef>
            </a:pPr>
            <a:endParaRPr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64" name="Picture 2" descr="C:\Users\GSSSIETW1\Desktop\vtu-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28217" y="129812"/>
            <a:ext cx="1685107" cy="1424667"/>
          </a:xfrm>
          <a:prstGeom prst="rect">
            <a:avLst/>
          </a:prstGeom>
          <a:noFill/>
        </p:spPr>
      </p:pic>
      <p:sp>
        <p:nvSpPr>
          <p:cNvPr id="1048664" name="object 2"/>
          <p:cNvSpPr txBox="1"/>
          <p:nvPr/>
        </p:nvSpPr>
        <p:spPr>
          <a:xfrm>
            <a:off x="2452663" y="2690949"/>
            <a:ext cx="7536815" cy="42986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700" b="1" spc="5" dirty="0">
                <a:solidFill>
                  <a:srgbClr val="800000"/>
                </a:solidFill>
                <a:latin typeface="Times New Roman"/>
                <a:cs typeface="Times New Roman"/>
              </a:rPr>
              <a:t>Project Work Phase I – Review 2 </a:t>
            </a:r>
            <a:endParaRPr sz="2700" dirty="0">
              <a:solidFill>
                <a:srgbClr val="8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3036414" y="162039"/>
            <a:ext cx="59420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  <a:tabLst>
                <a:tab pos="60325" algn="l"/>
              </a:tabLst>
            </a:pPr>
            <a:r>
              <a:rPr lang="en-US" sz="1200" b="1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Geetha</a:t>
            </a:r>
            <a:r>
              <a:rPr lang="en-US" sz="1200" b="1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200" b="1" spc="-5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Shishu</a:t>
            </a:r>
            <a:r>
              <a:rPr lang="en-US" sz="1200" b="1" spc="-5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200" b="1" spc="-5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Shikshana</a:t>
            </a:r>
            <a:r>
              <a:rPr lang="en-US" sz="1200" b="1" spc="-75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200" b="1" spc="-10" dirty="0" err="1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Sangha</a:t>
            </a:r>
            <a:r>
              <a:rPr lang="en-US" sz="1200" b="1" spc="-1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®</a:t>
            </a:r>
            <a:endParaRPr lang="en-US" sz="12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2834640" y="378824"/>
            <a:ext cx="6361611" cy="796834"/>
            <a:chOff x="2434" y="1821"/>
            <a:chExt cx="8261" cy="735"/>
          </a:xfrm>
        </p:grpSpPr>
        <p:sp>
          <p:nvSpPr>
            <p:cNvPr id="102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2434" y="1821"/>
              <a:ext cx="2501" cy="7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/>
              <a:r>
                <a:rPr lang="en-US" sz="3600" kern="10" spc="0" dirty="0">
                  <a:ln w="9525">
                    <a:solidFill>
                      <a:srgbClr val="404040"/>
                    </a:solidFill>
                    <a:round/>
                    <a:headEnd/>
                    <a:tailEnd/>
                  </a:ln>
                  <a:solidFill>
                    <a:srgbClr val="404040"/>
                  </a:solidFill>
                  <a:effectLst/>
                  <a:latin typeface="Tahoma"/>
                  <a:ea typeface="Tahoma"/>
                  <a:cs typeface="Tahoma"/>
                </a:rPr>
                <a:t>GSSS</a:t>
              </a:r>
            </a:p>
          </p:txBody>
        </p:sp>
        <p:sp>
          <p:nvSpPr>
            <p:cNvPr id="102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5059" y="1851"/>
              <a:ext cx="5636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/>
              <a:r>
                <a:rPr lang="en-US" sz="3600" kern="10" spc="0" dirty="0">
                  <a:ln w="9525">
                    <a:solidFill>
                      <a:srgbClr val="404040"/>
                    </a:solidFill>
                    <a:round/>
                    <a:headEnd/>
                    <a:tailEnd/>
                  </a:ln>
                  <a:solidFill>
                    <a:srgbClr val="404040"/>
                  </a:solidFill>
                  <a:effectLst/>
                  <a:latin typeface="Tahoma"/>
                  <a:ea typeface="Tahoma"/>
                  <a:cs typeface="Tahoma"/>
                </a:rPr>
                <a:t>INSTITUTE OF ENGINEERING &amp;</a:t>
              </a:r>
            </a:p>
          </p:txBody>
        </p:sp>
        <p:sp>
          <p:nvSpPr>
            <p:cNvPr id="1029" name="WordArt 5"/>
            <p:cNvSpPr>
              <a:spLocks noChangeArrowheads="1" noChangeShapeType="1" noTextEdit="1"/>
            </p:cNvSpPr>
            <p:nvPr/>
          </p:nvSpPr>
          <p:spPr bwMode="auto">
            <a:xfrm>
              <a:off x="5070" y="2226"/>
              <a:ext cx="5201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/>
              <a:r>
                <a:rPr lang="en-US" sz="3600" kern="10" spc="0">
                  <a:ln w="9525">
                    <a:solidFill>
                      <a:srgbClr val="404040"/>
                    </a:solidFill>
                    <a:round/>
                    <a:headEnd/>
                    <a:tailEnd/>
                  </a:ln>
                  <a:solidFill>
                    <a:srgbClr val="404040"/>
                  </a:solidFill>
                  <a:effectLst/>
                  <a:latin typeface="Tahoma"/>
                  <a:ea typeface="Tahoma"/>
                  <a:cs typeface="Tahoma"/>
                </a:rPr>
                <a:t>TECHNOLOGY FOR WOMEN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854926" y="1227910"/>
            <a:ext cx="94552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                                              K R S Road, </a:t>
            </a:r>
            <a:r>
              <a:rPr lang="en-IN" sz="1600" b="1" dirty="0" err="1"/>
              <a:t>Metagalli</a:t>
            </a:r>
            <a:r>
              <a:rPr lang="en-IN" sz="1600" b="1" dirty="0"/>
              <a:t>, </a:t>
            </a:r>
            <a:r>
              <a:rPr lang="en-IN" sz="1600" b="1" dirty="0" err="1"/>
              <a:t>Mysuru</a:t>
            </a:r>
            <a:r>
              <a:rPr lang="en-IN" sz="1600" b="1" dirty="0"/>
              <a:t> – 570016, Karnataka State</a:t>
            </a:r>
          </a:p>
          <a:p>
            <a:r>
              <a:rPr lang="en-IN" sz="1600" dirty="0"/>
              <a:t>                    (Affiliated to VTU, </a:t>
            </a:r>
            <a:r>
              <a:rPr lang="en-IN" sz="1600" dirty="0" err="1"/>
              <a:t>Belagavi</a:t>
            </a:r>
            <a:r>
              <a:rPr lang="en-IN" sz="1600" dirty="0"/>
              <a:t>, Approved by AICTE, New Delhi &amp; Govt. of Karnataka)</a:t>
            </a:r>
          </a:p>
          <a:p>
            <a:r>
              <a:rPr lang="en-IN" sz="1600" b="1" dirty="0"/>
              <a:t>                                                      Accredited by NAAC</a:t>
            </a:r>
            <a:endParaRPr lang="en-US" sz="1600" dirty="0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7630-A9C4-4310-AF19-03254F1A9097}" type="datetime1">
              <a:rPr lang="en-IN" smtClean="0"/>
              <a:pPr/>
              <a:t>08-05-2026</a:t>
            </a:fld>
            <a:endParaRPr lang="en-IN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1256" y="156755"/>
            <a:ext cx="1802675" cy="156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1915885" y="1088020"/>
            <a:ext cx="8229600" cy="5208277"/>
          </a:xfrm>
        </p:spPr>
        <p:txBody>
          <a:bodyPr>
            <a:noAutofit/>
          </a:bodyPr>
          <a:lstStyle/>
          <a:p>
            <a:pPr marL="457200" indent="-457200"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                                                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Scope of project/ Problem statement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Aim and Objectives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Hardware &amp; Software Requirements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Expected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utcome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Project Timeline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lvl="1">
              <a:buNone/>
            </a:pP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195-51F7-4259-8141-98FCA6C53D7F}" type="datetime1">
              <a:rPr lang="en-IN" smtClean="0"/>
              <a:pPr/>
              <a:t>08-05-2026</a:t>
            </a:fld>
            <a:endParaRPr lang="en-IN" dirty="0"/>
          </a:p>
        </p:txBody>
      </p:sp>
      <p:pic>
        <p:nvPicPr>
          <p:cNvPr id="2097166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93003" y="175941"/>
            <a:ext cx="714356" cy="714356"/>
          </a:xfrm>
          <a:prstGeom prst="rect">
            <a:avLst/>
          </a:prstGeom>
          <a:noFill/>
        </p:spPr>
      </p:pic>
      <p:sp>
        <p:nvSpPr>
          <p:cNvPr id="1048673" name="Title 3"/>
          <p:cNvSpPr>
            <a:spLocks noGrp="1"/>
          </p:cNvSpPr>
          <p:nvPr>
            <p:ph type="title"/>
          </p:nvPr>
        </p:nvSpPr>
        <p:spPr>
          <a:xfrm>
            <a:off x="1410789" y="142852"/>
            <a:ext cx="977101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79" y="0"/>
            <a:ext cx="1037904" cy="90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3"/>
          <p:cNvSpPr>
            <a:spLocks noGrp="1"/>
          </p:cNvSpPr>
          <p:nvPr>
            <p:ph type="title"/>
          </p:nvPr>
        </p:nvSpPr>
        <p:spPr>
          <a:xfrm>
            <a:off x="1319349" y="142852"/>
            <a:ext cx="967957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048675" name="Content Placeholder 4"/>
          <p:cNvSpPr>
            <a:spLocks noGrp="1"/>
          </p:cNvSpPr>
          <p:nvPr>
            <p:ph idx="1"/>
          </p:nvPr>
        </p:nvSpPr>
        <p:spPr>
          <a:xfrm>
            <a:off x="901337" y="1123406"/>
            <a:ext cx="10175966" cy="5091676"/>
          </a:xfrm>
        </p:spPr>
        <p:txBody>
          <a:bodyPr>
            <a:noAutofit/>
          </a:bodyPr>
          <a:lstStyle/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is one of the most important and time-consuming processes in organizations. 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hiring methods involve manual resume screening, skill matching, and interview preparation, which require significant human effort and may lead to biased or inefficient decisions.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HireGenAI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hiring intelligence platform developed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LLM.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resume parsing, job description analysis, candidate scoring, and interview question generation. </a:t>
            </a:r>
          </a:p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AI agents and structured workflows, the platform improves recruitment efficiency, accuracy, and decision-making while reducing manual effort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2097168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73D3-83D5-4AEB-B135-526753E98862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C2CEB98-AE84-DD3E-83D5-E37BB08D0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459593"/>
              </p:ext>
            </p:extLst>
          </p:nvPr>
        </p:nvGraphicFramePr>
        <p:xfrm>
          <a:off x="996507" y="1003334"/>
          <a:ext cx="10084196" cy="555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AI-Driven Resume Parsing and Recruitment System using NLP and Generative 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Abisha </a:t>
                      </a:r>
                      <a:r>
                        <a:rPr lang="en-IN" dirty="0" err="1"/>
                        <a:t>D,Keerthana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S.Kavitha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K,Ramya</a:t>
                      </a:r>
                      <a:r>
                        <a:rPr lang="en-IN" dirty="0"/>
                        <a:t> r,2024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Generative AI for recruitment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API cost and slower response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AI-Powered Applicant Tracking System: An Intelligent Approach to Modern Recruitment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Ashutosh Kumar, Veenit Kumar, Alok , Raushan Kumar, Ankush Paswan,2025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Intelligent applicant tracking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AI-generated candidate summaries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 err="1"/>
                        <a:t>AutoScreen</a:t>
                      </a:r>
                      <a:r>
                        <a:rPr lang="en-US" dirty="0"/>
                        <a:t>-FW: An LLM-based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Zhelin Xu, Shuhei Yamamoto, Atsuyuki Morishima,2026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high cloud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057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Smart-Hiring: An Explainable End-to-End Pipeline for CV Information Extraction and Job Matching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Kenza </a:t>
                      </a:r>
                      <a:r>
                        <a:rPr lang="en-IN" dirty="0" err="1"/>
                        <a:t>Khelkhal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Dihia</a:t>
                      </a:r>
                      <a:r>
                        <a:rPr lang="en-IN" dirty="0"/>
                        <a:t> Lanasri,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NLP Pipeline, Named Entity Recognition, Contextual Embeddings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real-time recruiter interaction and dashboard visualization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331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8B8D5-AD14-8A64-3AD7-8361D41F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C24FCBF1-421B-4D47-354D-1B697E32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A7237A32-7B97-E230-9F0C-F9BC3524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1413F741-0D57-B172-6476-C8D509BEE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D7FF43-7934-32A2-C709-D5C9E7A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75D6F2-D901-7143-13C7-4A274DAA4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7644A7-63AE-C68F-6758-2FAD92965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785763"/>
              </p:ext>
            </p:extLst>
          </p:nvPr>
        </p:nvGraphicFramePr>
        <p:xfrm>
          <a:off x="992776" y="1307938"/>
          <a:ext cx="10084196" cy="4644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AI Hiring with LLMs: A Context-Aware and Explainable Multi-Agent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Frank P.-W. Lo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Jianing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 Qiu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Zeyu Wang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Haibao Yu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Yeming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 Chen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Gao Zhang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, </a:t>
                      </a:r>
                      <a:r>
                        <a:rPr lang="en-US" b="0" i="0" u="none" strike="noStrike" dirty="0">
                          <a:solidFill>
                            <a:schemeClr val="tx1"/>
                          </a:solidFill>
                          <a:effectLst/>
                          <a:latin typeface="Lucida Grande"/>
                        </a:rPr>
                        <a:t>Benny Lo,</a:t>
                      </a:r>
                      <a:br>
                        <a:rPr lang="en-US" dirty="0"/>
                      </a:br>
                      <a:r>
                        <a:rPr lang="en-US" dirty="0"/>
                        <a:t>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Multi-agent LLM-based resume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complexity and less user interaction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Application of LLM Agents in Recruitment: A Novel Framework for Resume Screening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Chengguang</a:t>
                      </a:r>
                      <a:r>
                        <a:rPr lang="en-IN" dirty="0"/>
                        <a:t> Gan, Qinghao Zhang, Tatsunori Mori,2024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agents for recruitment automation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personalized interview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Resume Screening With Natural Language Processing (NLP)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Mehtap Saatçı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NLP-based resume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Keyword-based matching gives lower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21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72A3-9D99-CCF5-59E2-FD6CD2CC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>
            <a:extLst>
              <a:ext uri="{FF2B5EF4-FFF2-40B4-BE49-F238E27FC236}">
                <a16:creationId xmlns:a16="http://schemas.microsoft.com/office/drawing/2014/main" id="{6EA32675-26A9-DCF3-2A5D-79B4B8DC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>
            <a:extLst>
              <a:ext uri="{FF2B5EF4-FFF2-40B4-BE49-F238E27FC236}">
                <a16:creationId xmlns:a16="http://schemas.microsoft.com/office/drawing/2014/main" id="{E97C3FD7-D76E-7E36-B74F-B0FDA31C1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>
            <a:extLst>
              <a:ext uri="{FF2B5EF4-FFF2-40B4-BE49-F238E27FC236}">
                <a16:creationId xmlns:a16="http://schemas.microsoft.com/office/drawing/2014/main" id="{97413EEA-4A80-CD35-93FC-D1B10B530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FC3040-8227-DD04-0065-B5C7C4C2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CAE4F9C-BA83-BE2E-641D-828DB062D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C08EBE2-92AC-2078-B78F-185523E64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48385"/>
              </p:ext>
            </p:extLst>
          </p:nvPr>
        </p:nvGraphicFramePr>
        <p:xfrm>
          <a:off x="992776" y="1307938"/>
          <a:ext cx="10084196" cy="512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Resume Data Extract and Job Recruitment Chatbot Features for AI-Based Resume Screening &amp; Analytics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Kar Weng Chong, Kok Why Ng  , Yong Hong Fu,20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Recruitment Chatbot, NLP,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mainly on chatbot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Resume Screening using Machine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Sandeep Tayal et al., 2024 (Maharaja Agrasen Institute of Technology, Delhi)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Learning, NLP, SVM, KNN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Traditional ML models fail to understand contextual meaning in resumes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r>
                        <a:rPr lang="en-US" dirty="0"/>
                        <a:t>Explainable AI in Employment Decision-Making: A Systematic Review of Transparency Methods in Hiring Algorithms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Stephen Fabeyo,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Explainable AI (XAI), Hiring Algorithms, Transparency 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Existing systems lack user-friendly implementation and dynamic candidate insights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95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PROBLEM STATEMENT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44C945-4A3B-1520-A12B-8744E7184364}"/>
              </a:ext>
            </a:extLst>
          </p:cNvPr>
          <p:cNvSpPr txBox="1"/>
          <p:nvPr/>
        </p:nvSpPr>
        <p:spPr>
          <a:xfrm>
            <a:off x="1148653" y="1493986"/>
            <a:ext cx="104328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Manual resume screening consumes significant time and resources.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Recruiters face difficulty in matching candidate skills with job requirements accurately.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Traditional hiring processes may introduce human bias and inconsistency.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Generating personalized interview questions manually is difficult and time-consuming.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Existing recruitment systems lack intelligent candidate analysis and ranking mechanisms.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AIM &amp; OBJECTIVES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81C3C7-632D-AEDF-8996-F96B54040284}"/>
              </a:ext>
            </a:extLst>
          </p:cNvPr>
          <p:cNvSpPr txBox="1"/>
          <p:nvPr/>
        </p:nvSpPr>
        <p:spPr>
          <a:xfrm>
            <a:off x="1034143" y="1231181"/>
            <a:ext cx="103196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develop an AI-based hiring intelligence platform that automates resume screening, candidate ranking, and interview question generation using Large Language Models and multi-agent architecture.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resume parsing and candidate information extraction.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 descriptions and identify required skills and experience.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rank candidates using AI-based scoring techniques.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interview questions for shortlisted candidates.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METHODOLOGY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EB49EA-F719-AFF7-2D64-E609F9DB5AB7}"/>
              </a:ext>
            </a:extLst>
          </p:cNvPr>
          <p:cNvSpPr txBox="1"/>
          <p:nvPr/>
        </p:nvSpPr>
        <p:spPr>
          <a:xfrm>
            <a:off x="1524000" y="1457462"/>
            <a:ext cx="1061046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resumes and job description through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resume text from PDF/TXT files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Parser Agent extracts candidate details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 Analyzer Agent identifies required skills and experience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Agent compares resume with job requirements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candidate matching and ranking scores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AI-based candidate summaries and strengths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ranked candidates in the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476102" y="156753"/>
            <a:ext cx="9496697" cy="104502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HARDWARE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SOFTWARE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REQUIREMENTS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201781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Software Requirements 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16492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D519E7-E421-0AFA-4D73-96D9C3BFFBFA}"/>
              </a:ext>
            </a:extLst>
          </p:cNvPr>
          <p:cNvSpPr txBox="1"/>
          <p:nvPr/>
        </p:nvSpPr>
        <p:spPr>
          <a:xfrm>
            <a:off x="6579013" y="2013461"/>
            <a:ext cx="406373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 Processor or above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 GB RAM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EXPECTED OUTCOME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42A7E3-DF8D-BC05-CA62-F08AB268FB15}"/>
              </a:ext>
            </a:extLst>
          </p:cNvPr>
          <p:cNvSpPr txBox="1"/>
          <p:nvPr/>
        </p:nvSpPr>
        <p:spPr>
          <a:xfrm>
            <a:off x="1610248" y="1529997"/>
            <a:ext cx="8518490" cy="340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Automated resume screening system.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Accurate candidate ranking based on job requirements.</a:t>
            </a:r>
          </a:p>
          <a:p>
            <a:pPr lvl="0"/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AI-generated interview questions for candidates.</a:t>
            </a:r>
          </a:p>
          <a:p>
            <a:pPr lvl="0"/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recruitment time and manual effort.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38760" lvl="0" indent="-342900">
              <a:lnSpc>
                <a:spcPct val="98000"/>
              </a:lnSpc>
              <a:spcBef>
                <a:spcPts val="10"/>
              </a:spcBef>
              <a:buFont typeface="Symbol" panose="05050102010706020507" pitchFamily="18" charset="2"/>
              <a:buChar char="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hiring efficiency and decision-making.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PROJECT  TIMELINE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64B531-4381-8E49-6EF8-20A5C8423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002" y="1160491"/>
            <a:ext cx="9129997" cy="45370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154" y="222070"/>
            <a:ext cx="10045337" cy="653142"/>
          </a:xfr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470"/>
            <a:ext cx="10515600" cy="50404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 P. W. Lo et al., “AI Hiring with LLMs: A Context-Aware and Explainable Multi-Agent Framework for Resume Screening,”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https://arxiv.org/abs/2504.02870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“Application of LLM Agents in Recruitment: A Novel Framework for Resume Screening,”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https://arxiv.org/abs/2401.08315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Mehtap Saatçı et al., “Resume Screening With Natural Language Processing (NLP),” ResearchGate, 2024. Available: https://www.researchgate.net/publication/387588598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08-05-2026</a:t>
            </a:fld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" y="0"/>
            <a:ext cx="827314" cy="718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 descr="C:\Users\GSSSIETW1\Desktop\vtu-logo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Queries?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08-05-2026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08-05-2026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1037</Words>
  <Application>Microsoft Office PowerPoint</Application>
  <PresentationFormat>Widescreen</PresentationFormat>
  <Paragraphs>183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Bookman Old Style</vt:lpstr>
      <vt:lpstr>Calibri</vt:lpstr>
      <vt:lpstr>Calibri Light</vt:lpstr>
      <vt:lpstr>Lucida Grande</vt:lpstr>
      <vt:lpstr>Symbol</vt:lpstr>
      <vt:lpstr>Tahoma</vt:lpstr>
      <vt:lpstr>Times New Roman</vt:lpstr>
      <vt:lpstr>Office Theme</vt:lpstr>
      <vt:lpstr>PowerPoint Presentation</vt:lpstr>
      <vt:lpstr>CONTENTS</vt:lpstr>
      <vt:lpstr>INTRODUCTION</vt:lpstr>
      <vt:lpstr>LITERATURE SURVEY</vt:lpstr>
      <vt:lpstr>LITERATURE SURVEY</vt:lpstr>
      <vt:lpstr>LITERATURE SURVEY</vt:lpstr>
      <vt:lpstr>PROBLEM STATEMENT</vt:lpstr>
      <vt:lpstr>AIM &amp; OBJECTIVES</vt:lpstr>
      <vt:lpstr>METHODOLOGY</vt:lpstr>
      <vt:lpstr> HARDWARE &amp; SOFTWARE REQUIREMENTS </vt:lpstr>
      <vt:lpstr>        EXPECTED OUTCOME</vt:lpstr>
      <vt:lpstr>        PROJECT  TIMELINE</vt:lpstr>
      <vt:lpstr>REFERENCES</vt:lpstr>
      <vt:lpstr>Queries?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Pallavi B A</dc:creator>
  <cp:lastModifiedBy>samiksha sk</cp:lastModifiedBy>
  <cp:revision>29</cp:revision>
  <dcterms:created xsi:type="dcterms:W3CDTF">2020-02-27T13:01:24Z</dcterms:created>
  <dcterms:modified xsi:type="dcterms:W3CDTF">2026-05-08T16:32:24Z</dcterms:modified>
</cp:coreProperties>
</file>