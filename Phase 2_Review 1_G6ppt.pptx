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1" r:id="rId5"/>
    <p:sldId id="285" r:id="rId6"/>
    <p:sldId id="286" r:id="rId7"/>
    <p:sldId id="274" r:id="rId8"/>
    <p:sldId id="282" r:id="rId9"/>
    <p:sldId id="283" r:id="rId10"/>
    <p:sldId id="276" r:id="rId11"/>
    <p:sldId id="278" r:id="rId12"/>
    <p:sldId id="287" r:id="rId13"/>
    <p:sldId id="288" r:id="rId14"/>
    <p:sldId id="289" r:id="rId15"/>
    <p:sldId id="284" r:id="rId16"/>
    <p:sldId id="279" r:id="rId17"/>
    <p:sldId id="273" r:id="rId18"/>
    <p:sldId id="2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B13A5B-933F-4728-A273-B5CAB1A871BC}" v="2" dt="2026-09-02T13:58:55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82" d="100"/>
          <a:sy n="82" d="100"/>
        </p:scale>
        <p:origin x="55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ana B C" userId="95a6eda3c1d075c4" providerId="LiveId" clId="{31BE0E3B-C0D4-4B84-906B-8B1BDEDB76DC}"/>
    <pc:docChg chg="undo custSel modSld">
      <pc:chgData name="Chandana B C" userId="95a6eda3c1d075c4" providerId="LiveId" clId="{31BE0E3B-C0D4-4B84-906B-8B1BDEDB76DC}" dt="2026-09-02T14:00:25.233" v="396" actId="1076"/>
      <pc:docMkLst>
        <pc:docMk/>
      </pc:docMkLst>
      <pc:sldChg chg="modSp mod">
        <pc:chgData name="Chandana B C" userId="95a6eda3c1d075c4" providerId="LiveId" clId="{31BE0E3B-C0D4-4B84-906B-8B1BDEDB76DC}" dt="2026-09-02T14:00:25.233" v="396" actId="1076"/>
        <pc:sldMkLst>
          <pc:docMk/>
          <pc:sldMk cId="0" sldId="257"/>
        </pc:sldMkLst>
        <pc:spChg chg="mod">
          <ac:chgData name="Chandana B C" userId="95a6eda3c1d075c4" providerId="LiveId" clId="{31BE0E3B-C0D4-4B84-906B-8B1BDEDB76DC}" dt="2026-09-02T14:00:25.233" v="396" actId="1076"/>
          <ac:spMkLst>
            <pc:docMk/>
            <pc:sldMk cId="0" sldId="257"/>
            <ac:spMk id="1048662" creationId="{00000000-0000-0000-0000-000000000000}"/>
          </ac:spMkLst>
        </pc:spChg>
        <pc:spChg chg="mod">
          <ac:chgData name="Chandana B C" userId="95a6eda3c1d075c4" providerId="LiveId" clId="{31BE0E3B-C0D4-4B84-906B-8B1BDEDB76DC}" dt="2026-09-02T13:57:47.509" v="152" actId="20577"/>
          <ac:spMkLst>
            <pc:docMk/>
            <pc:sldMk cId="0" sldId="257"/>
            <ac:spMk id="1048663" creationId="{00000000-0000-0000-0000-000000000000}"/>
          </ac:spMkLst>
        </pc:spChg>
      </pc:sldChg>
      <pc:sldChg chg="modSp mod">
        <pc:chgData name="Chandana B C" userId="95a6eda3c1d075c4" providerId="LiveId" clId="{31BE0E3B-C0D4-4B84-906B-8B1BDEDB76DC}" dt="2026-09-02T13:31:22.046" v="33" actId="1076"/>
        <pc:sldMkLst>
          <pc:docMk/>
          <pc:sldMk cId="673249877" sldId="287"/>
        </pc:sldMkLst>
        <pc:spChg chg="mod">
          <ac:chgData name="Chandana B C" userId="95a6eda3c1d075c4" providerId="LiveId" clId="{31BE0E3B-C0D4-4B84-906B-8B1BDEDB76DC}" dt="2026-09-02T13:29:35.557" v="21" actId="20577"/>
          <ac:spMkLst>
            <pc:docMk/>
            <pc:sldMk cId="673249877" sldId="287"/>
            <ac:spMk id="1048684" creationId="{478397A1-08BB-1400-8775-91D3C667ADCC}"/>
          </ac:spMkLst>
        </pc:spChg>
        <pc:picChg chg="mod">
          <ac:chgData name="Chandana B C" userId="95a6eda3c1d075c4" providerId="LiveId" clId="{31BE0E3B-C0D4-4B84-906B-8B1BDEDB76DC}" dt="2026-09-02T13:31:22.046" v="33" actId="1076"/>
          <ac:picMkLst>
            <pc:docMk/>
            <pc:sldMk cId="673249877" sldId="287"/>
            <ac:picMk id="4" creationId="{FA3521AB-74C0-0C74-727B-678BD6544776}"/>
          </ac:picMkLst>
        </pc:picChg>
      </pc:sldChg>
      <pc:sldChg chg="modSp mod">
        <pc:chgData name="Chandana B C" userId="95a6eda3c1d075c4" providerId="LiveId" clId="{31BE0E3B-C0D4-4B84-906B-8B1BDEDB76DC}" dt="2026-09-02T13:29:42.641" v="27" actId="20577"/>
        <pc:sldMkLst>
          <pc:docMk/>
          <pc:sldMk cId="2512125596" sldId="288"/>
        </pc:sldMkLst>
        <pc:spChg chg="mod">
          <ac:chgData name="Chandana B C" userId="95a6eda3c1d075c4" providerId="LiveId" clId="{31BE0E3B-C0D4-4B84-906B-8B1BDEDB76DC}" dt="2026-09-02T13:29:42.641" v="27" actId="20577"/>
          <ac:spMkLst>
            <pc:docMk/>
            <pc:sldMk cId="2512125596" sldId="288"/>
            <ac:spMk id="1048684" creationId="{9BF79ACA-023A-011C-6C72-D71C5D6C75BA}"/>
          </ac:spMkLst>
        </pc:spChg>
      </pc:sldChg>
      <pc:sldChg chg="modSp mod">
        <pc:chgData name="Chandana B C" userId="95a6eda3c1d075c4" providerId="LiveId" clId="{31BE0E3B-C0D4-4B84-906B-8B1BDEDB76DC}" dt="2026-09-02T13:29:53.180" v="32" actId="20577"/>
        <pc:sldMkLst>
          <pc:docMk/>
          <pc:sldMk cId="463191678" sldId="289"/>
        </pc:sldMkLst>
        <pc:spChg chg="mod">
          <ac:chgData name="Chandana B C" userId="95a6eda3c1d075c4" providerId="LiveId" clId="{31BE0E3B-C0D4-4B84-906B-8B1BDEDB76DC}" dt="2026-09-02T13:29:53.180" v="32" actId="20577"/>
          <ac:spMkLst>
            <pc:docMk/>
            <pc:sldMk cId="463191678" sldId="289"/>
            <ac:spMk id="1048684" creationId="{562F4A76-15C9-09F6-EE1A-12D10103071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82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D0F362-A761-429F-A518-95033F19C564}" type="datetimeFigureOut">
              <a:rPr lang="en-IN" smtClean="0"/>
              <a:pPr/>
              <a:t>02-09-2026</a:t>
            </a:fld>
            <a:endParaRPr lang="en-IN"/>
          </a:p>
        </p:txBody>
      </p:sp>
      <p:sp>
        <p:nvSpPr>
          <p:cNvPr id="104883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83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3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83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7B28E-05AE-4493-BB71-E6F58AA1D040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67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0486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FEF03C-0C82-4563-8372-3341D12C4CA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7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6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37AE4-E0EB-4328-AF43-69D401D3C888}" type="datetime1">
              <a:rPr lang="en-IN" smtClean="0"/>
              <a:pPr/>
              <a:t>02-09-2026</a:t>
            </a:fld>
            <a:endParaRPr lang="en-IN"/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4CFC-3B2C-44D7-8B8B-08A72C136A16}" type="datetime1">
              <a:rPr lang="en-IN" smtClean="0"/>
              <a:pPr/>
              <a:t>02-09-2026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04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8727-16FA-41E7-8EA1-39AA40D363EC}" type="datetime1">
              <a:rPr lang="en-IN" smtClean="0"/>
              <a:pPr/>
              <a:t>02-09-2026</a:t>
            </a:fld>
            <a:endParaRPr lang="en-IN"/>
          </a:p>
        </p:txBody>
      </p:sp>
      <p:sp>
        <p:nvSpPr>
          <p:cNvPr id="10488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0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DD81B-B90B-4FA8-91A9-DF30CB6010B0}" type="datetime1">
              <a:rPr lang="en-IN" smtClean="0"/>
              <a:pPr/>
              <a:t>02-09-2026</a:t>
            </a:fld>
            <a:endParaRPr lang="en-IN"/>
          </a:p>
        </p:txBody>
      </p:sp>
      <p:sp>
        <p:nvSpPr>
          <p:cNvPr id="10488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1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1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1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2C880-E5E2-4E57-B48F-76CD5D972AA2}" type="datetime1">
              <a:rPr lang="en-IN" smtClean="0"/>
              <a:pPr/>
              <a:t>02-09-2026</a:t>
            </a:fld>
            <a:endParaRPr lang="en-IN"/>
          </a:p>
        </p:txBody>
      </p:sp>
      <p:sp>
        <p:nvSpPr>
          <p:cNvPr id="104882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2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8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7228E-4DD3-4D08-892E-FF0C1CA15D86}" type="datetime1">
              <a:rPr lang="en-IN" smtClean="0"/>
              <a:pPr/>
              <a:t>02-09-2026</a:t>
            </a:fld>
            <a:endParaRPr lang="en-IN"/>
          </a:p>
        </p:txBody>
      </p:sp>
      <p:sp>
        <p:nvSpPr>
          <p:cNvPr id="104878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8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D015D-2719-4763-8E10-47285FB65E83}" type="datetime1">
              <a:rPr lang="en-IN" smtClean="0"/>
              <a:pPr/>
              <a:t>02-09-2026</a:t>
            </a:fld>
            <a:endParaRPr lang="en-IN"/>
          </a:p>
        </p:txBody>
      </p:sp>
      <p:sp>
        <p:nvSpPr>
          <p:cNvPr id="104860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0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2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2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2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AD9A-0F0C-4633-90D4-342EE9E8360D}" type="datetime1">
              <a:rPr lang="en-IN" smtClean="0"/>
              <a:pPr/>
              <a:t>02-09-2026</a:t>
            </a:fld>
            <a:endParaRPr lang="en-IN"/>
          </a:p>
        </p:txBody>
      </p:sp>
      <p:sp>
        <p:nvSpPr>
          <p:cNvPr id="104882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2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9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79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EA202-E659-4DDF-A807-0AC805D63DCA}" type="datetime1">
              <a:rPr lang="en-IN" smtClean="0"/>
              <a:pPr/>
              <a:t>02-09-2026</a:t>
            </a:fld>
            <a:endParaRPr lang="en-IN"/>
          </a:p>
        </p:txBody>
      </p:sp>
      <p:sp>
        <p:nvSpPr>
          <p:cNvPr id="104879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9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9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610AA-FA7E-49F8-B00C-57292CD2DBBA}" type="datetime1">
              <a:rPr lang="en-IN" smtClean="0"/>
              <a:pPr/>
              <a:t>02-09-2026</a:t>
            </a:fld>
            <a:endParaRPr lang="en-IN"/>
          </a:p>
        </p:txBody>
      </p:sp>
      <p:sp>
        <p:nvSpPr>
          <p:cNvPr id="10488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8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F55A2-E625-46B3-8FE2-80F3445F0A51}" type="datetime1">
              <a:rPr lang="en-IN" smtClean="0"/>
              <a:pPr/>
              <a:t>02-09-2026</a:t>
            </a:fld>
            <a:endParaRPr lang="en-IN"/>
          </a:p>
        </p:txBody>
      </p:sp>
      <p:sp>
        <p:nvSpPr>
          <p:cNvPr id="10487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3CDA5-D545-4675-A882-5DC73767E80D}" type="datetime1">
              <a:rPr lang="en-IN" smtClean="0"/>
              <a:pPr/>
              <a:t>02-09-2026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1.08315" TargetMode="External"/><Relationship Id="rId2" Type="http://schemas.openxmlformats.org/officeDocument/2006/relationships/hyperlink" Target="https://arxiv.org/abs/2504.02870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object 2"/>
          <p:cNvSpPr txBox="1"/>
          <p:nvPr/>
        </p:nvSpPr>
        <p:spPr>
          <a:xfrm>
            <a:off x="1524000" y="3226526"/>
            <a:ext cx="8929718" cy="448649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052195" marR="5080" indent="-1040130" algn="ctr">
              <a:lnSpc>
                <a:spcPct val="80000"/>
              </a:lnSpc>
              <a:spcBef>
                <a:spcPts val="760"/>
              </a:spcBef>
            </a:pPr>
            <a:r>
              <a:rPr lang="en-US" sz="2800" b="1" dirty="0">
                <a:solidFill>
                  <a:schemeClr val="dk1"/>
                </a:solidFill>
              </a:rPr>
              <a:t>         “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HireGenAI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AI Powered Hiring Intelligence Platform</a:t>
            </a:r>
            <a:r>
              <a:rPr lang="en-US" sz="2800" b="1" dirty="0">
                <a:solidFill>
                  <a:schemeClr val="dk1"/>
                </a:solidFill>
              </a:rPr>
              <a:t>”</a:t>
            </a:r>
            <a:endParaRPr sz="2800" b="1" dirty="0">
              <a:solidFill>
                <a:srgbClr val="002060"/>
              </a:solidFill>
              <a:latin typeface="Bookman Old Style" pitchFamily="18" charset="0"/>
              <a:cs typeface="Times New Roman"/>
            </a:endParaRPr>
          </a:p>
        </p:txBody>
      </p:sp>
      <p:sp>
        <p:nvSpPr>
          <p:cNvPr id="1048661" name="object 7"/>
          <p:cNvSpPr txBox="1"/>
          <p:nvPr/>
        </p:nvSpPr>
        <p:spPr>
          <a:xfrm>
            <a:off x="1737359" y="1998617"/>
            <a:ext cx="8830491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8850">
              <a:lnSpc>
                <a:spcPts val="1415"/>
              </a:lnSpc>
            </a:pPr>
            <a:endParaRPr sz="1200" dirty="0">
              <a:solidFill>
                <a:srgbClr val="C0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>
              <a:lnSpc>
                <a:spcPts val="2250"/>
              </a:lnSpc>
            </a:pPr>
            <a:r>
              <a:rPr lang="en-IN" sz="2800" b="1" dirty="0"/>
              <a:t>DEPARTMENT OF COMPUTER</a:t>
            </a:r>
            <a:r>
              <a:rPr lang="en-US" sz="2800" b="1" dirty="0"/>
              <a:t> </a:t>
            </a:r>
            <a:r>
              <a:rPr lang="en-IN" sz="2800" b="1" dirty="0"/>
              <a:t>SC</a:t>
            </a:r>
            <a:r>
              <a:rPr lang="en-US" sz="2800" b="1" dirty="0"/>
              <a:t>IE</a:t>
            </a:r>
            <a:r>
              <a:rPr lang="en-IN" sz="2800" b="1" dirty="0"/>
              <a:t>NCE AND ENGINEERING</a:t>
            </a:r>
          </a:p>
          <a:p>
            <a:r>
              <a:rPr lang="en-IN" sz="1400" b="1" dirty="0"/>
              <a:t>                              Accredited by NBA, New Delhi, (Validity: 01.07.2023– 30.06.2026)</a:t>
            </a:r>
            <a:endParaRPr lang="en-US" sz="1400" dirty="0"/>
          </a:p>
        </p:txBody>
      </p:sp>
      <p:sp>
        <p:nvSpPr>
          <p:cNvPr id="1048662" name="object 8"/>
          <p:cNvSpPr txBox="1"/>
          <p:nvPr/>
        </p:nvSpPr>
        <p:spPr>
          <a:xfrm>
            <a:off x="5087491" y="4117097"/>
            <a:ext cx="6825833" cy="18020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Under the </a:t>
            </a:r>
            <a:r>
              <a:rPr b="1" spc="-5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Guidance</a:t>
            </a:r>
            <a:r>
              <a:rPr lang="en-US" b="1" spc="-5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of                                   Co-Guide</a:t>
            </a:r>
            <a:br>
              <a:rPr lang="en-US" spc="-5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pc="-5">
                <a:latin typeface="Times New Roman" pitchFamily="18" charset="0"/>
                <a:cs typeface="Times New Roman" pitchFamily="18" charset="0"/>
              </a:rPr>
              <a:t>Nausheen Shamsi and Hampana S R                        Dr.Rajath A N</a:t>
            </a:r>
          </a:p>
          <a:p>
            <a:pPr marL="12700">
              <a:spcBef>
                <a:spcPts val="100"/>
              </a:spcBef>
            </a:pPr>
            <a:r>
              <a:rPr lang="en-US" spc="-5">
                <a:latin typeface="Times New Roman" pitchFamily="18" charset="0"/>
                <a:cs typeface="Times New Roman" pitchFamily="18" charset="0"/>
              </a:rPr>
              <a:t>            Assistant Professors                                   Associate Professor</a:t>
            </a:r>
          </a:p>
          <a:p>
            <a:pPr marL="12700">
              <a:spcBef>
                <a:spcPts val="100"/>
              </a:spcBef>
            </a:pPr>
            <a:r>
              <a:rPr lang="en-US" spc="-5">
                <a:latin typeface="Times New Roman" pitchFamily="18" charset="0"/>
                <a:cs typeface="Times New Roman" pitchFamily="18" charset="0"/>
              </a:rPr>
              <a:t>                   Dept.of CSE                                            Dept.of AI&amp;DS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endParaRPr lang="en-IN" b="1" spc="-85" dirty="0">
              <a:solidFill>
                <a:schemeClr val="accent3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63" name="object 9"/>
          <p:cNvSpPr txBox="1"/>
          <p:nvPr/>
        </p:nvSpPr>
        <p:spPr>
          <a:xfrm>
            <a:off x="491045" y="4015488"/>
            <a:ext cx="4230370" cy="2000548"/>
          </a:xfrm>
          <a:prstGeom prst="rect">
            <a:avLst/>
          </a:prstGeom>
        </p:spPr>
        <p:txBody>
          <a:bodyPr vert="horz" wrap="square" lIns="0" tIns="12700" rIns="0" bIns="0" numCol="1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100"/>
              </a:spcBef>
            </a:pPr>
            <a:r>
              <a:rPr lang="en-US" b="1" spc="-15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 Batch </a:t>
            </a:r>
            <a:r>
              <a:rPr lang="en-US" b="1" spc="-15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6                                                     </a:t>
            </a:r>
            <a:endParaRPr lang="en-US" b="1" spc="-15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700" algn="ctr">
              <a:spcBef>
                <a:spcPts val="100"/>
              </a:spcBef>
            </a:pP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Chandana B C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4GW23CS020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]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12700" algn="ctr">
              <a:spcBef>
                <a:spcPts val="100"/>
              </a:spcBef>
            </a:pP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Manya </a:t>
            </a:r>
            <a:r>
              <a:rPr lang="en-US" sz="2000" spc="-15">
                <a:latin typeface="Times New Roman" pitchFamily="18" charset="0"/>
                <a:cs typeface="Times New Roman" pitchFamily="18" charset="0"/>
              </a:rPr>
              <a:t>V       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sz="2000">
                <a:latin typeface="Times New Roman" pitchFamily="18" charset="0"/>
                <a:cs typeface="Times New Roman" pitchFamily="18" charset="0"/>
              </a:rPr>
              <a:t>4GW23CS058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12700" algn="ctr">
              <a:spcBef>
                <a:spcPts val="100"/>
              </a:spcBef>
            </a:pPr>
            <a:r>
              <a:rPr lang="en-US" sz="2000" spc="-15">
                <a:latin typeface="Times New Roman" pitchFamily="18" charset="0"/>
                <a:cs typeface="Times New Roman" pitchFamily="18" charset="0"/>
              </a:rPr>
              <a:t>Megha </a:t>
            </a: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000" spc="-15">
                <a:latin typeface="Times New Roman" pitchFamily="18" charset="0"/>
                <a:cs typeface="Times New Roman" pitchFamily="18" charset="0"/>
              </a:rPr>
              <a:t>M      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sz="2000">
                <a:latin typeface="Times New Roman" pitchFamily="18" charset="0"/>
                <a:cs typeface="Times New Roman" pitchFamily="18" charset="0"/>
              </a:rPr>
              <a:t>4GW23CS060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2000" spc="-15">
                <a:latin typeface="Times New Roman" pitchFamily="18" charset="0"/>
                <a:cs typeface="Times New Roman" pitchFamily="18" charset="0"/>
              </a:rPr>
              <a:t> Samiksha       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4GW23CS094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12700" algn="ctr">
              <a:spcBef>
                <a:spcPts val="100"/>
              </a:spcBef>
            </a:pPr>
            <a:endParaRPr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64" name="Picture 2" descr="C:\Users\GSSSIETW1\Desktop\vtu-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28217" y="129812"/>
            <a:ext cx="1685107" cy="1424667"/>
          </a:xfrm>
          <a:prstGeom prst="rect">
            <a:avLst/>
          </a:prstGeom>
          <a:noFill/>
        </p:spPr>
      </p:pic>
      <p:sp>
        <p:nvSpPr>
          <p:cNvPr id="1048664" name="object 2"/>
          <p:cNvSpPr txBox="1"/>
          <p:nvPr/>
        </p:nvSpPr>
        <p:spPr>
          <a:xfrm>
            <a:off x="2452663" y="2690949"/>
            <a:ext cx="7536815" cy="429861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052195" marR="5080" indent="-1040130" algn="ctr">
              <a:lnSpc>
                <a:spcPct val="80000"/>
              </a:lnSpc>
              <a:spcBef>
                <a:spcPts val="760"/>
              </a:spcBef>
            </a:pPr>
            <a:r>
              <a:rPr lang="en-US" sz="2700" b="1" spc="5" dirty="0">
                <a:solidFill>
                  <a:srgbClr val="800000"/>
                </a:solidFill>
                <a:latin typeface="Times New Roman"/>
                <a:cs typeface="Times New Roman"/>
              </a:rPr>
              <a:t>Project Work </a:t>
            </a:r>
            <a:r>
              <a:rPr lang="en-US" sz="2700" b="1" spc="5">
                <a:solidFill>
                  <a:srgbClr val="800000"/>
                </a:solidFill>
                <a:latin typeface="Times New Roman"/>
                <a:cs typeface="Times New Roman"/>
              </a:rPr>
              <a:t>Phase II </a:t>
            </a:r>
            <a:r>
              <a:rPr lang="en-US" sz="2700" b="1" spc="5" dirty="0">
                <a:solidFill>
                  <a:srgbClr val="800000"/>
                </a:solidFill>
                <a:latin typeface="Times New Roman"/>
                <a:cs typeface="Times New Roman"/>
              </a:rPr>
              <a:t>– </a:t>
            </a:r>
            <a:r>
              <a:rPr lang="en-US" sz="2700" b="1" spc="5">
                <a:solidFill>
                  <a:srgbClr val="800000"/>
                </a:solidFill>
                <a:latin typeface="Times New Roman"/>
                <a:cs typeface="Times New Roman"/>
              </a:rPr>
              <a:t>Review 1 </a:t>
            </a:r>
            <a:endParaRPr sz="2700" dirty="0">
              <a:solidFill>
                <a:srgbClr val="800000"/>
              </a:solidFill>
              <a:latin typeface="Times New Roman"/>
              <a:cs typeface="Times New Roman"/>
            </a:endParaRPr>
          </a:p>
        </p:txBody>
      </p:sp>
      <p:sp>
        <p:nvSpPr>
          <p:cNvPr id="11" name="object 6"/>
          <p:cNvSpPr txBox="1"/>
          <p:nvPr/>
        </p:nvSpPr>
        <p:spPr>
          <a:xfrm>
            <a:off x="3036414" y="162039"/>
            <a:ext cx="5942033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  <a:tabLst>
                <a:tab pos="60325" algn="l"/>
              </a:tabLst>
            </a:pPr>
            <a:r>
              <a:rPr lang="en-US" sz="1200" b="1" dirty="0" err="1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Geetha</a:t>
            </a:r>
            <a:r>
              <a:rPr lang="en-US" sz="1200" b="1" dirty="0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200" b="1" spc="-5" dirty="0" err="1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Shishu</a:t>
            </a:r>
            <a:r>
              <a:rPr lang="en-US" sz="1200" b="1" spc="-5" dirty="0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200" b="1" spc="-5" dirty="0" err="1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Shikshana</a:t>
            </a:r>
            <a:r>
              <a:rPr lang="en-US" sz="1200" b="1" spc="-75" dirty="0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200" b="1" spc="-10" dirty="0" err="1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Sangha</a:t>
            </a:r>
            <a:r>
              <a:rPr lang="en-US" sz="1200" b="1" spc="-10" dirty="0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®</a:t>
            </a:r>
            <a:endParaRPr lang="en-US" sz="1200" dirty="0">
              <a:solidFill>
                <a:srgbClr val="C0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2834640" y="378824"/>
            <a:ext cx="6361611" cy="796834"/>
            <a:chOff x="2434" y="1821"/>
            <a:chExt cx="8261" cy="735"/>
          </a:xfrm>
        </p:grpSpPr>
        <p:sp>
          <p:nvSpPr>
            <p:cNvPr id="1027" name="WordArt 3"/>
            <p:cNvSpPr>
              <a:spLocks noChangeArrowheads="1" noChangeShapeType="1" noTextEdit="1"/>
            </p:cNvSpPr>
            <p:nvPr/>
          </p:nvSpPr>
          <p:spPr bwMode="auto">
            <a:xfrm>
              <a:off x="2434" y="1821"/>
              <a:ext cx="2501" cy="7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rtl="0"/>
              <a:r>
                <a:rPr lang="en-US" sz="3600" kern="10" spc="0" dirty="0">
                  <a:ln w="9525">
                    <a:solidFill>
                      <a:srgbClr val="404040"/>
                    </a:solidFill>
                    <a:round/>
                    <a:headEnd/>
                    <a:tailEnd/>
                  </a:ln>
                  <a:solidFill>
                    <a:srgbClr val="404040"/>
                  </a:solidFill>
                  <a:effectLst/>
                  <a:latin typeface="Tahoma"/>
                  <a:ea typeface="Tahoma"/>
                  <a:cs typeface="Tahoma"/>
                </a:rPr>
                <a:t>GSSS</a:t>
              </a:r>
            </a:p>
          </p:txBody>
        </p:sp>
        <p:sp>
          <p:nvSpPr>
            <p:cNvPr id="1028" name="WordArt 4"/>
            <p:cNvSpPr>
              <a:spLocks noChangeArrowheads="1" noChangeShapeType="1" noTextEdit="1"/>
            </p:cNvSpPr>
            <p:nvPr/>
          </p:nvSpPr>
          <p:spPr bwMode="auto">
            <a:xfrm>
              <a:off x="5059" y="1851"/>
              <a:ext cx="5636" cy="2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rtl="0"/>
              <a:r>
                <a:rPr lang="en-US" sz="3600" kern="10" spc="0" dirty="0">
                  <a:ln w="9525">
                    <a:solidFill>
                      <a:srgbClr val="404040"/>
                    </a:solidFill>
                    <a:round/>
                    <a:headEnd/>
                    <a:tailEnd/>
                  </a:ln>
                  <a:solidFill>
                    <a:srgbClr val="404040"/>
                  </a:solidFill>
                  <a:effectLst/>
                  <a:latin typeface="Tahoma"/>
                  <a:ea typeface="Tahoma"/>
                  <a:cs typeface="Tahoma"/>
                </a:rPr>
                <a:t>INSTITUTE OF ENGINEERING &amp;</a:t>
              </a:r>
            </a:p>
          </p:txBody>
        </p:sp>
        <p:sp>
          <p:nvSpPr>
            <p:cNvPr id="1029" name="WordArt 5"/>
            <p:cNvSpPr>
              <a:spLocks noChangeArrowheads="1" noChangeShapeType="1" noTextEdit="1"/>
            </p:cNvSpPr>
            <p:nvPr/>
          </p:nvSpPr>
          <p:spPr bwMode="auto">
            <a:xfrm>
              <a:off x="5070" y="2226"/>
              <a:ext cx="5201" cy="2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rtl="0"/>
              <a:r>
                <a:rPr lang="en-US" sz="3600" kern="10" spc="0">
                  <a:ln w="9525">
                    <a:solidFill>
                      <a:srgbClr val="404040"/>
                    </a:solidFill>
                    <a:round/>
                    <a:headEnd/>
                    <a:tailEnd/>
                  </a:ln>
                  <a:solidFill>
                    <a:srgbClr val="404040"/>
                  </a:solidFill>
                  <a:effectLst/>
                  <a:latin typeface="Tahoma"/>
                  <a:ea typeface="Tahoma"/>
                  <a:cs typeface="Tahoma"/>
                </a:rPr>
                <a:t>TECHNOLOGY FOR WOMEN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1854926" y="1227910"/>
            <a:ext cx="94552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/>
              <a:t>                                              K R S Road, </a:t>
            </a:r>
            <a:r>
              <a:rPr lang="en-IN" sz="1600" b="1" dirty="0" err="1"/>
              <a:t>Metagalli</a:t>
            </a:r>
            <a:r>
              <a:rPr lang="en-IN" sz="1600" b="1" dirty="0"/>
              <a:t>, </a:t>
            </a:r>
            <a:r>
              <a:rPr lang="en-IN" sz="1600" b="1" dirty="0" err="1"/>
              <a:t>Mysuru</a:t>
            </a:r>
            <a:r>
              <a:rPr lang="en-IN" sz="1600" b="1" dirty="0"/>
              <a:t> – 570016, Karnataka State</a:t>
            </a:r>
          </a:p>
          <a:p>
            <a:r>
              <a:rPr lang="en-IN" sz="1600" dirty="0"/>
              <a:t>                    (Affiliated to VTU, </a:t>
            </a:r>
            <a:r>
              <a:rPr lang="en-IN" sz="1600" dirty="0" err="1"/>
              <a:t>Belagavi</a:t>
            </a:r>
            <a:r>
              <a:rPr lang="en-IN" sz="1600" dirty="0"/>
              <a:t>, Approved by AICTE, New Delhi &amp; Govt. of Karnataka)</a:t>
            </a:r>
          </a:p>
          <a:p>
            <a:r>
              <a:rPr lang="en-IN" sz="1600" b="1" dirty="0"/>
              <a:t>                                                      Accredited by NAAC</a:t>
            </a:r>
            <a:endParaRPr lang="en-US" sz="1600" dirty="0"/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7630-A9C4-4310-AF19-03254F1A9097}" type="datetime1">
              <a:rPr lang="en-IN" smtClean="0"/>
              <a:pPr/>
              <a:t>02-09-2026</a:t>
            </a:fld>
            <a:endParaRPr lang="en-IN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1256" y="156755"/>
            <a:ext cx="1802675" cy="1565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Content Placeholder 2"/>
          <p:cNvSpPr>
            <a:spLocks noGrp="1"/>
          </p:cNvSpPr>
          <p:nvPr>
            <p:ph idx="1"/>
          </p:nvPr>
        </p:nvSpPr>
        <p:spPr>
          <a:xfrm>
            <a:off x="1812317" y="901337"/>
            <a:ext cx="9307285" cy="5208277"/>
          </a:xfrm>
        </p:spPr>
        <p:txBody>
          <a:bodyPr>
            <a:noAutofit/>
          </a:bodyPr>
          <a:lstStyle/>
          <a:p>
            <a:r>
              <a:rPr lang="en-IN" sz="2800">
                <a:latin typeface="Times New Roman" pitchFamily="18" charset="0"/>
                <a:cs typeface="Times New Roman" pitchFamily="18" charset="0"/>
              </a:rPr>
              <a:t>Introduction                                                 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Scope of project/ Problem statement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Aim and Objectives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Methodology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Hardware &amp; </a:t>
            </a:r>
            <a:r>
              <a:rPr lang="en-IN" sz="280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 marL="24130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>
                <a:latin typeface="Times New Roman" panose="02020603050405020304"/>
                <a:cs typeface="Times New Roman" panose="02020603050405020304"/>
              </a:rPr>
              <a:t>Architecture</a:t>
            </a:r>
            <a:r>
              <a:rPr lang="en-US" spc="-55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>
                <a:latin typeface="Times New Roman" panose="02020603050405020304"/>
                <a:cs typeface="Times New Roman" panose="02020603050405020304"/>
              </a:rPr>
              <a:t>of</a:t>
            </a:r>
            <a:r>
              <a:rPr lang="en-US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>
                <a:latin typeface="Times New Roman" panose="02020603050405020304"/>
                <a:cs typeface="Times New Roman" panose="02020603050405020304"/>
              </a:rPr>
              <a:t>the</a:t>
            </a:r>
            <a:r>
              <a:rPr lang="en-US" spc="-4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5">
                <a:latin typeface="Times New Roman" panose="02020603050405020304"/>
                <a:cs typeface="Times New Roman" panose="02020603050405020304"/>
              </a:rPr>
              <a:t>System</a:t>
            </a:r>
            <a:endParaRPr lang="en-US">
              <a:latin typeface="Times New Roman" panose="02020603050405020304"/>
              <a:cs typeface="Times New Roman" panose="02020603050405020304"/>
            </a:endParaRPr>
          </a:p>
          <a:p>
            <a:pPr marL="2413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pc="-5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lang="en-US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5">
                <a:latin typeface="Times New Roman" panose="02020603050405020304"/>
                <a:cs typeface="Times New Roman" panose="02020603050405020304"/>
              </a:rPr>
              <a:t>diagrams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Expected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utcome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Project Timeline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lvl="1">
              <a:buNone/>
            </a:pPr>
            <a:b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>
              <a:buNone/>
            </a:pPr>
            <a:b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</a:p>
          <a:p>
            <a:pPr marL="457200" indent="-457200"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-US" sz="22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7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195-51F7-4259-8141-98FCA6C53D7F}" type="datetime1">
              <a:rPr lang="en-IN" smtClean="0"/>
              <a:pPr/>
              <a:t>02-09-2026</a:t>
            </a:fld>
            <a:endParaRPr lang="en-IN" dirty="0"/>
          </a:p>
        </p:txBody>
      </p:sp>
      <p:pic>
        <p:nvPicPr>
          <p:cNvPr id="2097166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93003" y="175941"/>
            <a:ext cx="714356" cy="714356"/>
          </a:xfrm>
          <a:prstGeom prst="rect">
            <a:avLst/>
          </a:prstGeom>
          <a:noFill/>
        </p:spPr>
      </p:pic>
      <p:sp>
        <p:nvSpPr>
          <p:cNvPr id="1048673" name="Title 3"/>
          <p:cNvSpPr>
            <a:spLocks noGrp="1"/>
          </p:cNvSpPr>
          <p:nvPr>
            <p:ph type="title"/>
          </p:nvPr>
        </p:nvSpPr>
        <p:spPr>
          <a:xfrm>
            <a:off x="1410789" y="142852"/>
            <a:ext cx="9771017" cy="65403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79" y="0"/>
            <a:ext cx="1037904" cy="90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3"/>
          <p:cNvSpPr>
            <a:spLocks noGrp="1"/>
          </p:cNvSpPr>
          <p:nvPr>
            <p:ph type="title"/>
          </p:nvPr>
        </p:nvSpPr>
        <p:spPr>
          <a:xfrm>
            <a:off x="1319349" y="142852"/>
            <a:ext cx="9679577" cy="65403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1048675" name="Content Placeholder 4"/>
          <p:cNvSpPr>
            <a:spLocks noGrp="1"/>
          </p:cNvSpPr>
          <p:nvPr>
            <p:ph idx="1"/>
          </p:nvPr>
        </p:nvSpPr>
        <p:spPr>
          <a:xfrm>
            <a:off x="901337" y="1123406"/>
            <a:ext cx="10175966" cy="5091676"/>
          </a:xfrm>
        </p:spPr>
        <p:txBody>
          <a:bodyPr>
            <a:noAutofit/>
          </a:bodyPr>
          <a:lstStyle/>
          <a:p>
            <a:pPr marL="457200" indent="-381000" algn="just">
              <a:spcBef>
                <a:spcPts val="1100"/>
              </a:spcBef>
              <a:spcAft>
                <a:spcPts val="500"/>
              </a:spcAft>
              <a:buClr>
                <a:schemeClr val="dk1"/>
              </a:buClr>
              <a:buSzPts val="24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is one of the most important and time-consuming processes in organizations. </a:t>
            </a:r>
          </a:p>
          <a:p>
            <a:pPr marL="457200" indent="-381000" algn="just">
              <a:spcBef>
                <a:spcPts val="1100"/>
              </a:spcBef>
              <a:spcAft>
                <a:spcPts val="500"/>
              </a:spcAft>
              <a:buClr>
                <a:schemeClr val="dk1"/>
              </a:buClr>
              <a:buSzPts val="24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hiring methods involve manual resume screening, skill matching, and interview preparation, which require significant human effort and may lead to biased or inefficient decisions.</a:t>
            </a:r>
          </a:p>
          <a:p>
            <a:pPr marL="457200" indent="-381000" algn="just">
              <a:spcBef>
                <a:spcPts val="1100"/>
              </a:spcBef>
              <a:spcAft>
                <a:spcPts val="500"/>
              </a:spcAft>
              <a:buClr>
                <a:schemeClr val="dk1"/>
              </a:buClr>
              <a:buSzPts val="2400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HireGenAI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hiring intelligence platform developed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LLM.</a:t>
            </a:r>
          </a:p>
          <a:p>
            <a:pPr marL="457200" indent="-381000" algn="just">
              <a:spcBef>
                <a:spcPts val="1100"/>
              </a:spcBef>
              <a:spcAft>
                <a:spcPts val="500"/>
              </a:spcAft>
              <a:buClr>
                <a:schemeClr val="dk1"/>
              </a:buClr>
              <a:buSzPts val="24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automates resume parsing, job description analysis, candidate scoring, and interview question generation. </a:t>
            </a:r>
          </a:p>
          <a:p>
            <a:pPr marL="457200" indent="-381000" algn="just">
              <a:spcBef>
                <a:spcPts val="1100"/>
              </a:spcBef>
              <a:spcAft>
                <a:spcPts val="500"/>
              </a:spcAft>
              <a:buClr>
                <a:schemeClr val="dk1"/>
              </a:buClr>
              <a:buSzPts val="24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AI agents and structured workflows, the platform improves recruitment efficiency, accuracy, and decision-making while reducing manual effort</a:t>
            </a:r>
            <a:endParaRPr lang="en-US" sz="2400" dirty="0">
              <a:latin typeface="Times New Roman" panose="02020603050405020304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pic>
        <p:nvPicPr>
          <p:cNvPr id="2097168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73D3-83D5-4AEB-B135-526753E98862}" type="datetime1">
              <a:rPr lang="en-IN" smtClean="0"/>
              <a:pPr/>
              <a:t>02-09-2026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02-09-2026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C2CEB98-AE84-DD3E-83D5-E37BB08D0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459593"/>
              </p:ext>
            </p:extLst>
          </p:nvPr>
        </p:nvGraphicFramePr>
        <p:xfrm>
          <a:off x="996507" y="1003334"/>
          <a:ext cx="10084196" cy="555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049">
                  <a:extLst>
                    <a:ext uri="{9D8B030D-6E8A-4147-A177-3AD203B41FA5}">
                      <a16:colId xmlns:a16="http://schemas.microsoft.com/office/drawing/2014/main" val="2089408953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307380464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1077487645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4235447059"/>
                    </a:ext>
                  </a:extLst>
                </a:gridCol>
              </a:tblGrid>
              <a:tr h="7390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Title of the Paper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Details and Published Year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Shortcomings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572973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AI-Driven Resume Parsing and Recruitment System using NLP and Generative AI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Abisha </a:t>
                      </a:r>
                      <a:r>
                        <a:rPr lang="en-IN" dirty="0" err="1"/>
                        <a:t>D,Keerthana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S.Kavitha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K,Ramya</a:t>
                      </a:r>
                      <a:r>
                        <a:rPr lang="en-IN" dirty="0"/>
                        <a:t> r,2024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Generative AI for recruitment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API cost and slower response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838821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AI-Powered Applicant Tracking System: An Intelligent Approach to Modern Recruitment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Ashutosh Kumar, Veenit Kumar, Alok , Raushan Kumar, Ankush Paswan,2025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Intelligent applicant tracking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AI-generated candidate summaries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636961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 err="1"/>
                        <a:t>AutoScreen</a:t>
                      </a:r>
                      <a:r>
                        <a:rPr lang="en-US" dirty="0"/>
                        <a:t>-FW: An LLM-based Framework for Resume Screening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Zhelin Xu, Shuhei Yamamoto, Atsuyuki Morishima,2026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LLM framework for resume screening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Requires high cloud resources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43057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Smart-Hiring: An Explainable End-to-End Pipeline for CV Information Extraction and Job Matching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Kenza </a:t>
                      </a:r>
                      <a:r>
                        <a:rPr lang="en-IN" dirty="0" err="1"/>
                        <a:t>Khelkhal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Dihia</a:t>
                      </a:r>
                      <a:r>
                        <a:rPr lang="en-IN" dirty="0"/>
                        <a:t> Lanasri,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NLP Pipeline, Named Entity Recognition, Contextual Embeddings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real-time recruiter interaction and dashboard visualization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3314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8B8D5-AD14-8A64-3AD7-8361D41F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>
            <a:extLst>
              <a:ext uri="{FF2B5EF4-FFF2-40B4-BE49-F238E27FC236}">
                <a16:creationId xmlns:a16="http://schemas.microsoft.com/office/drawing/2014/main" id="{C24FCBF1-421B-4D47-354D-1B697E321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1048685" name="Content Placeholder 2">
            <a:extLst>
              <a:ext uri="{FF2B5EF4-FFF2-40B4-BE49-F238E27FC236}">
                <a16:creationId xmlns:a16="http://schemas.microsoft.com/office/drawing/2014/main" id="{A7237A32-7B97-E230-9F0C-F9BC35246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>
            <a:extLst>
              <a:ext uri="{FF2B5EF4-FFF2-40B4-BE49-F238E27FC236}">
                <a16:creationId xmlns:a16="http://schemas.microsoft.com/office/drawing/2014/main" id="{1413F741-0D57-B172-6476-C8D509BEE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5D7FF43-7934-32A2-C709-D5C9E7A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02-09-2026</a:t>
            </a:fld>
            <a:endParaRPr lang="en-IN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75D6F2-D901-7143-13C7-4A274DAA4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57644A7-63AE-C68F-6758-2FAD92965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785763"/>
              </p:ext>
            </p:extLst>
          </p:nvPr>
        </p:nvGraphicFramePr>
        <p:xfrm>
          <a:off x="992776" y="1307938"/>
          <a:ext cx="10084196" cy="4644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049">
                  <a:extLst>
                    <a:ext uri="{9D8B030D-6E8A-4147-A177-3AD203B41FA5}">
                      <a16:colId xmlns:a16="http://schemas.microsoft.com/office/drawing/2014/main" val="2089408953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307380464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1077487645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4235447059"/>
                    </a:ext>
                  </a:extLst>
                </a:gridCol>
              </a:tblGrid>
              <a:tr h="7390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Title of the Paper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Details and Published Year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Shortcomings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572973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AI Hiring with LLMs: A Context-Aware and Explainable Multi-Agent Framework for Resume Screening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i="0" u="none" strike="noStrike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Frank P.-W. Lo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, </a:t>
                      </a:r>
                      <a:r>
                        <a:rPr lang="en-US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Jianing</a:t>
                      </a:r>
                      <a:r>
                        <a:rPr lang="en-US" b="0" i="0" u="none" strike="noStrike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 Qiu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, </a:t>
                      </a:r>
                      <a:r>
                        <a:rPr lang="en-US" b="0" i="0" u="none" strike="noStrike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Zeyu Wang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, </a:t>
                      </a:r>
                      <a:r>
                        <a:rPr lang="en-US" b="0" i="0" u="none" strike="noStrike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Haibao Yu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, </a:t>
                      </a:r>
                      <a:r>
                        <a:rPr lang="en-US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Yeming</a:t>
                      </a:r>
                      <a:r>
                        <a:rPr lang="en-US" b="0" i="0" u="none" strike="noStrike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 Chen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, </a:t>
                      </a:r>
                      <a:r>
                        <a:rPr lang="en-US" b="0" i="0" u="none" strike="noStrike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Gao Zhang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, </a:t>
                      </a:r>
                      <a:r>
                        <a:rPr lang="en-US" b="0" i="0" u="none" strike="noStrike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Benny Lo,</a:t>
                      </a:r>
                      <a:br>
                        <a:rPr lang="en-US" dirty="0"/>
                      </a:br>
                      <a:r>
                        <a:rPr lang="en-US" dirty="0"/>
                        <a:t>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Multi-agent LLM-based resume screening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computational complexity and less user interaction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838821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Application of LLM Agents in Recruitment: A Novel Framework for Resume Screening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Chengguang</a:t>
                      </a:r>
                      <a:r>
                        <a:rPr lang="en-IN" dirty="0"/>
                        <a:t> Gan, Qinghao Zhang, Tatsunori Mori,2024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LLM agents for recruitment automation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 personalized interview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636961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Resume Screening With Natural Language Processing (NLP)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Mehtap Saatçı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NLP-based resume parsing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Keyword-based matching gives lower accuracy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43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21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772A3-9D99-CCF5-59E2-FD6CD2CCB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>
            <a:extLst>
              <a:ext uri="{FF2B5EF4-FFF2-40B4-BE49-F238E27FC236}">
                <a16:creationId xmlns:a16="http://schemas.microsoft.com/office/drawing/2014/main" id="{6EA32675-26A9-DCF3-2A5D-79B4B8DC1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1048685" name="Content Placeholder 2">
            <a:extLst>
              <a:ext uri="{FF2B5EF4-FFF2-40B4-BE49-F238E27FC236}">
                <a16:creationId xmlns:a16="http://schemas.microsoft.com/office/drawing/2014/main" id="{E97C3FD7-D76E-7E36-B74F-B0FDA31C1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>
            <a:extLst>
              <a:ext uri="{FF2B5EF4-FFF2-40B4-BE49-F238E27FC236}">
                <a16:creationId xmlns:a16="http://schemas.microsoft.com/office/drawing/2014/main" id="{97413EEA-4A80-CD35-93FC-D1B10B530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AFC3040-8227-DD04-0065-B5C7C4C2F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02-09-2026</a:t>
            </a:fld>
            <a:endParaRPr lang="en-IN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CAE4F9C-BA83-BE2E-641D-828DB062D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C08EBE2-92AC-2078-B78F-185523E64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448385"/>
              </p:ext>
            </p:extLst>
          </p:nvPr>
        </p:nvGraphicFramePr>
        <p:xfrm>
          <a:off x="992776" y="1307938"/>
          <a:ext cx="10084196" cy="5128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049">
                  <a:extLst>
                    <a:ext uri="{9D8B030D-6E8A-4147-A177-3AD203B41FA5}">
                      <a16:colId xmlns:a16="http://schemas.microsoft.com/office/drawing/2014/main" val="2089408953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307380464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1077487645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4235447059"/>
                    </a:ext>
                  </a:extLst>
                </a:gridCol>
              </a:tblGrid>
              <a:tr h="7390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Title of the Paper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Details and Published Year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Shortcomings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572973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Resume Data Extract and Job Recruitment Chatbot Features for AI-Based Resume Screening &amp; Analytics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Kar Weng Chong, Kok Why Ng  , Yong Hong Fu,20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 Recruitment Chatbot, NLP,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Focuses mainly on chatbot 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838821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Resume Screening using Machine Learning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Dr. Sandeep Tayal et al., 2024 (Maharaja Agrasen Institute of Technology, Delhi)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 Learning, NLP, SVM, KNN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Traditional ML models fail to understand contextual meaning in resumes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636961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Explainable AI in Employment Decision-Making: A Systematic Review of Transparency Methods in Hiring Algorithms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Stephen Fabeyo,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Explainable AI (XAI), Hiring Algorithms, Transparency Methods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Existing systems lack user-friendly implementation and dynamic candidate insights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43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955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marL="457200" indent="-457200" algn="ctr"/>
            <a:r>
              <a:rPr lang="en-IN" altLang="zh-C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PROBLEM STATEMENT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02-09-2026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44C945-4A3B-1520-A12B-8744E7184364}"/>
              </a:ext>
            </a:extLst>
          </p:cNvPr>
          <p:cNvSpPr txBox="1"/>
          <p:nvPr/>
        </p:nvSpPr>
        <p:spPr>
          <a:xfrm>
            <a:off x="1148653" y="1493986"/>
            <a:ext cx="1043286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Manual resume screening consumes significant time and resources.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Recruiters face difficulty in matching candidate skills with job requirements accurately.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Traditional hiring processes may introduce human bias and inconsistency.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Generating personalized interview questions manually is difficult and time-consuming.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Existing recruitment systems lack intelligent candidate analysis and ranking mechanisms.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marL="457200" indent="-457200" algn="ctr"/>
            <a:r>
              <a:rPr lang="en-IN" altLang="zh-C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AIM &amp; OBJECTIVES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02-09-2026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81C3C7-632D-AEDF-8996-F96B54040284}"/>
              </a:ext>
            </a:extLst>
          </p:cNvPr>
          <p:cNvSpPr txBox="1"/>
          <p:nvPr/>
        </p:nvSpPr>
        <p:spPr>
          <a:xfrm>
            <a:off x="1034143" y="1231181"/>
            <a:ext cx="1031965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develop an AI-based hiring intelligence platform that automates resume screening, candidate ranking, and interview question generation using Large Language Models and multi-agent architecture.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resume parsing and candidate information extraction.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job descriptions and identify required skills and experience.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rank candidates using AI-based scoring techniques.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personalized interview questions for shortlisted candidates.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marL="457200" indent="-457200" algn="ctr"/>
            <a:r>
              <a:rPr lang="en-IN" altLang="zh-C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METHODOLOGY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02-09-2026</a:t>
            </a:fld>
            <a:endParaRPr lang="en-IN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EB49EA-F719-AFF7-2D64-E609F9DB5AB7}"/>
              </a:ext>
            </a:extLst>
          </p:cNvPr>
          <p:cNvSpPr txBox="1"/>
          <p:nvPr/>
        </p:nvSpPr>
        <p:spPr>
          <a:xfrm>
            <a:off x="1524000" y="1457462"/>
            <a:ext cx="10610461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resumes and job description through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resume text from PDF/TXT files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Parser Agent extracts candidate details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 Analyzer Agent identifies required skills and experience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Agent compares resume with job requirements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candidate matching and ranking scores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AI-based candidate summaries and strengths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ranked candidates in the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476102" y="156753"/>
            <a:ext cx="9496697" cy="1045027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altLang="zh-C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HARDWARE</a:t>
            </a: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IN" altLang="zh-C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SOFTWARE</a:t>
            </a: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altLang="zh-C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REQUIREMENTS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201781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Software Requirements 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lvl="1"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16492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02-09-2026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D519E7-E421-0AFA-4D73-96D9C3BFFBFA}"/>
              </a:ext>
            </a:extLst>
          </p:cNvPr>
          <p:cNvSpPr txBox="1"/>
          <p:nvPr/>
        </p:nvSpPr>
        <p:spPr>
          <a:xfrm>
            <a:off x="6579013" y="2013461"/>
            <a:ext cx="4063738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i5 Processor or above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8 GB RAM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Internet Connection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EXPECTED OUTCOME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02-09-2026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42A7E3-DF8D-BC05-CA62-F08AB268FB15}"/>
              </a:ext>
            </a:extLst>
          </p:cNvPr>
          <p:cNvSpPr txBox="1"/>
          <p:nvPr/>
        </p:nvSpPr>
        <p:spPr>
          <a:xfrm>
            <a:off x="1610248" y="1529997"/>
            <a:ext cx="8518490" cy="3408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Automated resume screening system.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Accurate candidate ranking based on job requirements.</a:t>
            </a:r>
          </a:p>
          <a:p>
            <a:pPr lvl="0"/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AI-generated interview questions for candidates.</a:t>
            </a:r>
          </a:p>
          <a:p>
            <a:pPr lvl="0"/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Reduced recruitment time and manual effort.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38760" lvl="0" indent="-342900">
              <a:lnSpc>
                <a:spcPct val="98000"/>
              </a:lnSpc>
              <a:spcBef>
                <a:spcPts val="10"/>
              </a:spcBef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Improved hiring efficiency and decision-making.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9D78C-F466-F112-7544-D6F379703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>
            <a:extLst>
              <a:ext uri="{FF2B5EF4-FFF2-40B4-BE49-F238E27FC236}">
                <a16:creationId xmlns:a16="http://schemas.microsoft.com/office/drawing/2014/main" id="{478397A1-08BB-1400-8775-91D3C667A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473" y="156754"/>
            <a:ext cx="9836333" cy="60089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IN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OF THE SYSTEM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5" name="Content Placeholder 2">
            <a:extLst>
              <a:ext uri="{FF2B5EF4-FFF2-40B4-BE49-F238E27FC236}">
                <a16:creationId xmlns:a16="http://schemas.microsoft.com/office/drawing/2014/main" id="{E50DCB20-5884-5709-1CD1-0BEB0F21C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>
            <a:extLst>
              <a:ext uri="{FF2B5EF4-FFF2-40B4-BE49-F238E27FC236}">
                <a16:creationId xmlns:a16="http://schemas.microsoft.com/office/drawing/2014/main" id="{442CB43D-315E-E1C4-2B51-B840A1E12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A4E31F1-C52C-3E6F-28AC-157C654C0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02-09-2026</a:t>
            </a:fld>
            <a:endParaRPr lang="en-IN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4F32931-32C8-59B7-418F-E32B6A41F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3521AB-74C0-0C74-727B-678BD65447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70" y="757646"/>
            <a:ext cx="10319657" cy="565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49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58109-F13B-B76C-037B-1EC649B52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>
            <a:extLst>
              <a:ext uri="{FF2B5EF4-FFF2-40B4-BE49-F238E27FC236}">
                <a16:creationId xmlns:a16="http://schemas.microsoft.com/office/drawing/2014/main" id="{9BF79ACA-023A-011C-6C72-D71C5D6C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473" y="156754"/>
            <a:ext cx="9836333" cy="60089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IN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USE CASE DIAGRAM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5" name="Content Placeholder 2">
            <a:extLst>
              <a:ext uri="{FF2B5EF4-FFF2-40B4-BE49-F238E27FC236}">
                <a16:creationId xmlns:a16="http://schemas.microsoft.com/office/drawing/2014/main" id="{D2CBB5FD-D9C3-B5A3-C0F0-4BA5BA3E8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>
            <a:extLst>
              <a:ext uri="{FF2B5EF4-FFF2-40B4-BE49-F238E27FC236}">
                <a16:creationId xmlns:a16="http://schemas.microsoft.com/office/drawing/2014/main" id="{B4D4F3C3-E5EA-8080-D2BF-E76E8C503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AFC5394-8ADA-C876-A3FC-3666F304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02-09-2026</a:t>
            </a:fld>
            <a:endParaRPr lang="en-IN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6AF2F45-B11E-5772-164D-8AA7BA2C9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1D6529-D2F2-D7DE-830E-2FBCF5C7B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861" y="1149530"/>
            <a:ext cx="9854277" cy="505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125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0B22A-E463-76D0-6027-05B500134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>
            <a:extLst>
              <a:ext uri="{FF2B5EF4-FFF2-40B4-BE49-F238E27FC236}">
                <a16:creationId xmlns:a16="http://schemas.microsoft.com/office/drawing/2014/main" id="{562F4A76-15C9-09F6-EE1A-12D101030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473" y="156754"/>
            <a:ext cx="9836333" cy="60089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IN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USE CASE DIAGRAM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5" name="Content Placeholder 2">
            <a:extLst>
              <a:ext uri="{FF2B5EF4-FFF2-40B4-BE49-F238E27FC236}">
                <a16:creationId xmlns:a16="http://schemas.microsoft.com/office/drawing/2014/main" id="{E023F52E-22FD-BED6-19CC-BE81B3649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>
            <a:extLst>
              <a:ext uri="{FF2B5EF4-FFF2-40B4-BE49-F238E27FC236}">
                <a16:creationId xmlns:a16="http://schemas.microsoft.com/office/drawing/2014/main" id="{6DD92AD4-9107-77F8-E48A-058F5FC61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5D3E59A-E06A-A502-6BCF-66290CF2C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02-09-2026</a:t>
            </a:fld>
            <a:endParaRPr lang="en-IN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B0DE5AE-04CB-2AA2-FC52-B0B0AB265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42916D-97B8-3443-962E-BD56CC4727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84" y="1149530"/>
            <a:ext cx="9899431" cy="509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91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PROJECT  TIMELINE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02-09-2026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564B531-4381-8E49-6EF8-20A5C8423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002" y="1160491"/>
            <a:ext cx="9129997" cy="453701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154" y="222070"/>
            <a:ext cx="10045337" cy="653142"/>
          </a:xfr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6470"/>
            <a:ext cx="10515600" cy="50404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Frank P. W. Lo et al., “AI Hiring with LLMs: A Context-Aware and Explainable Multi-Agent Framework for Resume Screening,”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https://arxiv.org/abs/2504.02870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“Application of LLM Agents in Recruitment: A Novel Framework for Resume Screening,”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https://arxiv.org/abs/2401.08315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Mehtap Saatçı et al., “Resume Screening With Natural Language Processing (NLP),” ResearchGate, 2024. Available: https://www.researchgate.net/publication/387588598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4CFC-3B2C-44D7-8B8B-08A72C136A16}" type="datetime1">
              <a:rPr lang="en-IN" smtClean="0"/>
              <a:pPr/>
              <a:t>02-09-2026</a:t>
            </a:fld>
            <a:endParaRPr lang="en-I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" y="0"/>
            <a:ext cx="827314" cy="718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 descr="C:\Users\GSSSIETW1\Desktop\vtu-logo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9"/>
          <p:cNvSpPr>
            <a:spLocks noGrp="1"/>
          </p:cNvSpPr>
          <p:nvPr>
            <p:ph type="title"/>
          </p:nvPr>
        </p:nvSpPr>
        <p:spPr>
          <a:xfrm>
            <a:off x="2166910" y="2143116"/>
            <a:ext cx="750099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Queries?</a:t>
            </a:r>
          </a:p>
        </p:txBody>
      </p:sp>
      <p:sp>
        <p:nvSpPr>
          <p:cNvPr id="104859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F2CC1-CB30-4F13-A848-E951E6112DD2}" type="datetime1">
              <a:rPr lang="en-IN" smtClean="0"/>
              <a:pPr/>
              <a:t>02-09-2026</a:t>
            </a:fld>
            <a:endParaRPr lang="en-IN" dirty="0"/>
          </a:p>
        </p:txBody>
      </p:sp>
      <p:pic>
        <p:nvPicPr>
          <p:cNvPr id="2097159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9"/>
          <p:cNvSpPr>
            <a:spLocks noGrp="1"/>
          </p:cNvSpPr>
          <p:nvPr>
            <p:ph type="title"/>
          </p:nvPr>
        </p:nvSpPr>
        <p:spPr>
          <a:xfrm>
            <a:off x="2166910" y="2143116"/>
            <a:ext cx="750099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104859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F2CC1-CB30-4F13-A848-E951E6112DD2}" type="datetime1">
              <a:rPr lang="en-IN" smtClean="0"/>
              <a:pPr/>
              <a:t>02-09-2026</a:t>
            </a:fld>
            <a:endParaRPr lang="en-IN" dirty="0"/>
          </a:p>
        </p:txBody>
      </p:sp>
      <p:pic>
        <p:nvPicPr>
          <p:cNvPr id="2097159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1074</Words>
  <Application>Microsoft Office PowerPoint</Application>
  <PresentationFormat>Widescreen</PresentationFormat>
  <Paragraphs>193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Arial MT</vt:lpstr>
      <vt:lpstr>Bookman Old Style</vt:lpstr>
      <vt:lpstr>Calibri</vt:lpstr>
      <vt:lpstr>Calibri Light</vt:lpstr>
      <vt:lpstr>Lucida Grande</vt:lpstr>
      <vt:lpstr>Symbol</vt:lpstr>
      <vt:lpstr>Tahoma</vt:lpstr>
      <vt:lpstr>Times New Roman</vt:lpstr>
      <vt:lpstr>Office Theme</vt:lpstr>
      <vt:lpstr>PowerPoint Presentation</vt:lpstr>
      <vt:lpstr>CONTENTS</vt:lpstr>
      <vt:lpstr>INTRODUCTION</vt:lpstr>
      <vt:lpstr>LITERATURE SURVEY</vt:lpstr>
      <vt:lpstr>LITERATURE SURVEY</vt:lpstr>
      <vt:lpstr>LITERATURE SURVEY</vt:lpstr>
      <vt:lpstr>PROBLEM STATEMENT</vt:lpstr>
      <vt:lpstr>AIM &amp; OBJECTIVES</vt:lpstr>
      <vt:lpstr>METHODOLOGY</vt:lpstr>
      <vt:lpstr> HARDWARE &amp; SOFTWARE REQUIREMENTS </vt:lpstr>
      <vt:lpstr>        EXPECTED OUTCOME</vt:lpstr>
      <vt:lpstr> ARCHITECTURE OF THE SYSTEM</vt:lpstr>
      <vt:lpstr>  USE CASE DIAGRAM</vt:lpstr>
      <vt:lpstr>   USE CASE DIAGRAM</vt:lpstr>
      <vt:lpstr>        PROJECT  TIMELINE</vt:lpstr>
      <vt:lpstr>REFERENCES</vt:lpstr>
      <vt:lpstr>Queries?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Pallavi B A</dc:creator>
  <cp:lastModifiedBy>Chandana B C</cp:lastModifiedBy>
  <cp:revision>30</cp:revision>
  <dcterms:created xsi:type="dcterms:W3CDTF">2020-02-27T13:01:24Z</dcterms:created>
  <dcterms:modified xsi:type="dcterms:W3CDTF">2026-09-02T14:00:29Z</dcterms:modified>
</cp:coreProperties>
</file>